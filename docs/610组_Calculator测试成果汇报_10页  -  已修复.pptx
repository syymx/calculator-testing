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【20 秒】我们测试的是 Calculator 整数表达式计算器。本次工作的重点，是在正常运算之外验证整数边界和异常路径。我们设计了 94 个用例，在原版中定位 3 类缺陷；修复版完成相同用例的回归，全部通过。接下来重点汇报测试如何设计、发现了什么，以及一次容易造成误判的测试陷阱。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【25 秒】被测对象是一个单头文件 C++ 库，默认进行 64 位有符号整数计算。表达式经过数值和运算符解析，通过优先级与栈决定顺序，最后完成运算或抛出异常。它支持算术、位运算、乘方与科学计数法。测试时必须遵循库自身约定，例如尖号表示乘方，不是异或，因此不能直接照搬 C++ 表达式的预期结果。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【30 秒】94 个用例采用三种主要设计方法：等价类 31 个，边界值 38 个，场景法 25 个。边界值占比最大，因为本库最重要的风险是整数越界和非法输入。我们检查上下界本身及邻值，表达式长度 9999 与 10000 的接受差异，以及移位量 63、64 和负数。场景法再把运算符、括号和中间结果组合起来，检查单个功能之外的协作行为。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【25 秒】源码中有 11 个测试文件，报告按 11 个功能模块汇总。这里再分为三组展示：正常行为 29 个，边界和位运算 26 个，错误与异常 39 个，总数是 94。我们既检查应当返回的值，也检查应当拒绝的输入。这种组织方式有助于根据失败用例快速定位风险类别，同时保持后续回归的可追踪性。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【35 秒】GoogleTest 负责断言，CMake 把 11 个文件组织成测试程序，CTest 自动发现并统一执行。幻灯片展示了本机使用的 MinGW Makefiles 构建命令。这里有一个实施细节：当前默认构建仍然引用原版头文件，因此不能把直接运行 CTest 的结果称为修复版回归。为了核验汇报数据，本次另行隔离编译原版和修复版，复用完全相同的 94 个用例，没有修改项目原有源码和测试。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【35 秒】原版执行 94 个用例，其中 90 个通过，4 个失败，通过率 95.74%。4 个失败不是 4 类缺陷：非法移位对应 2 个用例，最小负整数解析和零减最小整数分别对应 1 个。修复版在同一组用例下达到 94 个全部通过。非法移位中的位宽用例同时检查左移和右移，所以汇报时还需要区分断言数、用例数和缺陷数，不能混为一谈。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【40 秒】典型 Bug 是零减最小整数。为了避免原版最小负整数字面量解析本身的缺陷，我们先用最小值的邻值减一构造 INT64_MIN，再计算零减它。数学结果是 2 的 63 次方，必然超出 int64_t 上界。原版检查条件要求左操作数严格大于零，因此遗漏了零。修复只是把大于改为大于等于，但这个小改动补上了关键分支。对应回归用例从未抛异常变为正确抛出异常。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【40 秒】这个项目里最值得分享的测试陷阱，是异常断言可能提前通过。如果直接用最小负整数字面量除以负一，原版在解析字面量时就会抛出 calculator::error。此时 EXPECT_THROW 看起来通过了，却不能证明除法溢出保护有效。现有测试通过邻值减一先构造最小值，再触发除法，让执行真正到达目标分支。这说明测试质量不能只看红绿结果，还要确认异常来自预期步骤。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【30 秒】质量评估要区分通过率和覆盖率。附录三记录原版行覆盖率为 97.78%，分支覆盖率为 71.31%。这两项来自已有报告，本次独立复跑没有重新采集覆盖率。较高的行覆盖说明大量代码已经执行，但不能代替条件分支覆盖，也不能证明不存在遗漏。我们确认的是三类已知缺陷修复，以及现有 94 个用例的回归。后续优先增加不同整数模板类型和未覆盖条件分支的测试。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稿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【20 秒】本次成果是 94 个自动化用例、3 类已定位缺陷，以及修复版百分之百的现有用例回归通过率。最重要的经验有三点：零和极值需要专门测试；异常断言要追踪来源；运行前要核对实际引用的被测版本。两位成员分别承担环境与基础组合测试、边界异常测试和整合工作，并共同完成报告。我们的汇报结束，谢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">
            <a:extLst>
              <a:ext uri="{FF2B5EF4-FFF2-40B4-BE49-F238E27FC236}">
                <a16:creationId xmlns:a16="http://schemas.microsoft.com/office/drawing/2014/main" id="{2578B9E4-7351-4340-9BAC-4D885C36E6D1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">
            <a:extLst>
              <a:ext uri="{FF2B5EF4-FFF2-40B4-BE49-F238E27FC236}">
                <a16:creationId xmlns:a16="http://schemas.microsoft.com/office/drawing/2014/main" id="{89F279D7-716D-41DC-91D1-CF67A641CB66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tantia" panose="02030602050306030303" pitchFamily="18" charset="0"/>
            </a:endParaRPr>
          </a:p>
        </p:txBody>
      </p:sp>
      <p:sp>
        <p:nvSpPr>
          <p:cNvPr id="102" name="矩形 11">
            <a:extLst>
              <a:ext uri="{FF2B5EF4-FFF2-40B4-BE49-F238E27FC236}">
                <a16:creationId xmlns:a16="http://schemas.microsoft.com/office/drawing/2014/main" id="{995050F5-8F30-4A70-A69E-F6B787105A13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3" name="图片 14">
            <a:extLst>
              <a:ext uri="{FF2B5EF4-FFF2-40B4-BE49-F238E27FC236}">
                <a16:creationId xmlns:a16="http://schemas.microsoft.com/office/drawing/2014/main" id="{B5107ECD-ADC8-4E2D-BAD5-C8BB26DF3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34" y="232034"/>
            <a:ext cx="2438400" cy="52734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5000" y="2424258"/>
            <a:ext cx="10922000" cy="698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500"/>
              </a:spcAft>
            </a:pPr>
            <a:r>
              <a:rPr lang="zh-CN" altLang="en-US" sz="34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</a:t>
            </a:r>
            <a:r>
              <a:rPr lang="en-US" altLang="zh-CN" sz="34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r>
              <a:rPr lang="zh-CN" altLang="en-US" sz="34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计算与</a:t>
            </a:r>
            <a:r>
              <a:rPr lang="en-US" altLang="zh-CN" sz="34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r>
              <a:rPr lang="zh-CN" altLang="en-US" sz="34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</a:t>
            </a:r>
            <a:r>
              <a:rPr lang="en-US" altLang="zh-CN" sz="34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</a:t>
            </a:r>
            <a:r>
              <a:rPr lang="zh-CN" altLang="en-US" sz="34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795000" y="6553200"/>
            <a:ext cx="889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altLang="en-US"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5000" y="4787640"/>
            <a:ext cx="109220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altLang="zh-CN" sz="18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610</a:t>
            </a:r>
            <a:r>
              <a:rPr lang="zh-CN" altLang="en-US" sz="18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 ：黄月</a:t>
            </a:r>
            <a:r>
              <a:rPr lang="en-US" altLang="zh-CN" sz="18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8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赵一鸣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被测对象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接口负责解析、计算和异常处理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300" dirty="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默认返回</a:t>
            </a:r>
            <a:r>
              <a:rPr lang="en-US" altLang="zh-CN" sz="1300" dirty="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int64_t</a:t>
            </a:r>
            <a:r>
              <a:rPr lang="zh-CN" altLang="en-US" sz="1300" dirty="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；入口</a:t>
            </a:r>
            <a:r>
              <a:rPr lang="en-US" altLang="zh-CN" sz="1300" dirty="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calculator::eval(expression)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239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表达式输入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6035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11" name="矩形 10"/>
          <p:cNvSpPr/>
          <p:nvPr/>
        </p:nvSpPr>
        <p:spPr>
          <a:xfrm>
            <a:off x="28575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718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r>
              <a:rPr lang="en-US" altLang="zh-CN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运算符解析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514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14" name="矩形 13"/>
          <p:cNvSpPr/>
          <p:nvPr/>
        </p:nvSpPr>
        <p:spPr>
          <a:xfrm>
            <a:off x="51054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2197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优先级与栈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0993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17" name="矩形 16"/>
          <p:cNvSpPr/>
          <p:nvPr/>
        </p:nvSpPr>
        <p:spPr>
          <a:xfrm>
            <a:off x="73533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4676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安全运算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347200" y="24511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20" name="矩形 19"/>
          <p:cNvSpPr/>
          <p:nvPr/>
        </p:nvSpPr>
        <p:spPr>
          <a:xfrm>
            <a:off x="9601200" y="2260600"/>
            <a:ext cx="1968500" cy="787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715500" y="2476500"/>
            <a:ext cx="175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lang="en-US" altLang="zh-CN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</a:t>
            </a:r>
          </a:p>
        </p:txBody>
      </p:sp>
      <p:sp>
        <p:nvSpPr>
          <p:cNvPr id="22" name="矩形 21"/>
          <p:cNvSpPr/>
          <p:nvPr/>
        </p:nvSpPr>
        <p:spPr>
          <a:xfrm>
            <a:off x="609600" y="3429000"/>
            <a:ext cx="3467100" cy="2159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38200" y="36195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算术与进制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38200" y="40259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表达式能正确求值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38200" y="45847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1 + 2 * 3 = 7</a:t>
            </a: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0x10 + 1 = 17</a:t>
            </a: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2 ** 3 = 8</a:t>
            </a:r>
          </a:p>
        </p:txBody>
      </p:sp>
      <p:sp>
        <p:nvSpPr>
          <p:cNvPr id="26" name="矩形 25"/>
          <p:cNvSpPr/>
          <p:nvPr/>
        </p:nvSpPr>
        <p:spPr>
          <a:xfrm>
            <a:off x="4279900" y="3429000"/>
            <a:ext cx="3467100" cy="2159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08500" y="36195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位运算与组合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508500" y="40259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运算顺序有约定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508500" y="4584700"/>
            <a:ext cx="30099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&lt;&lt; 3 = 8</a:t>
            </a: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~0 = -1</a:t>
            </a:r>
          </a:p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表示乘方，非异或</a:t>
            </a:r>
          </a:p>
        </p:txBody>
      </p:sp>
      <p:sp>
        <p:nvSpPr>
          <p:cNvPr id="30" name="矩形 29"/>
          <p:cNvSpPr/>
          <p:nvPr/>
        </p:nvSpPr>
        <p:spPr>
          <a:xfrm>
            <a:off x="7950200" y="3429000"/>
            <a:ext cx="3632200" cy="2159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178800" y="36195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错误与边界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178800" y="40259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非法输入应被拒绝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178800" y="45847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0 → calculator::error</a:t>
            </a:r>
          </a:p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支持十进制、十六进制</a:t>
            </a:r>
            <a:endParaRPr lang="en-US" altLang="zh-CN" sz="15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表达式长度须小于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测试策略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按输入类型选取用例，重点检查边界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dirty="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 </a:t>
            </a:r>
            <a:r>
              <a:rPr lang="zh-CN" altLang="en-US" sz="1300" dirty="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个用例按主要设计方法归类；同时结合源码检查关键分支。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5000" y="22098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9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等价类划分</a:t>
            </a:r>
          </a:p>
        </p:txBody>
      </p:sp>
      <p:sp>
        <p:nvSpPr>
          <p:cNvPr id="9" name="矩形 8"/>
          <p:cNvSpPr/>
          <p:nvPr/>
        </p:nvSpPr>
        <p:spPr>
          <a:xfrm>
            <a:off x="2794000" y="2235200"/>
            <a:ext cx="3810000" cy="2413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794000" y="2235200"/>
            <a:ext cx="1256489" cy="241300"/>
          </a:xfrm>
          <a:prstGeom prst="rect">
            <a:avLst/>
          </a:prstGeom>
          <a:solidFill>
            <a:srgbClr val="008B7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858000" y="21717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31  /  33.0%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806700" y="2603500"/>
            <a:ext cx="787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零；合法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非法输入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5000" y="33274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9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边界值分析</a:t>
            </a:r>
          </a:p>
        </p:txBody>
      </p:sp>
      <p:sp>
        <p:nvSpPr>
          <p:cNvPr id="14" name="矩形 13"/>
          <p:cNvSpPr/>
          <p:nvPr/>
        </p:nvSpPr>
        <p:spPr>
          <a:xfrm>
            <a:off x="2794000" y="3352800"/>
            <a:ext cx="3810000" cy="2413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794000" y="3352800"/>
            <a:ext cx="1540213" cy="241300"/>
          </a:xfrm>
          <a:prstGeom prst="rect">
            <a:avLst/>
          </a:prstGeom>
          <a:solidFill>
            <a:srgbClr val="E56E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858000" y="32893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0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38  /  40.4%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806700" y="3721100"/>
            <a:ext cx="787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整数上下界、表达式长度、移位量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35000" y="44450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9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场景法</a:t>
            </a:r>
          </a:p>
        </p:txBody>
      </p:sp>
      <p:sp>
        <p:nvSpPr>
          <p:cNvPr id="19" name="矩形 18"/>
          <p:cNvSpPr/>
          <p:nvPr/>
        </p:nvSpPr>
        <p:spPr>
          <a:xfrm>
            <a:off x="2794000" y="4470400"/>
            <a:ext cx="3810000" cy="2413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794000" y="4470400"/>
            <a:ext cx="1013298" cy="241300"/>
          </a:xfrm>
          <a:prstGeom prst="rect">
            <a:avLst/>
          </a:prstGeom>
          <a:solidFill>
            <a:srgbClr val="1120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858000" y="44069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25  /  26.6%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806700" y="4838700"/>
            <a:ext cx="787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混合运算、括号嵌套、异常组合</a:t>
            </a:r>
          </a:p>
        </p:txBody>
      </p:sp>
      <p:sp>
        <p:nvSpPr>
          <p:cNvPr id="23" name="矩形 22"/>
          <p:cNvSpPr/>
          <p:nvPr/>
        </p:nvSpPr>
        <p:spPr>
          <a:xfrm>
            <a:off x="609600" y="5651500"/>
            <a:ext cx="10972800" cy="419100"/>
          </a:xfrm>
          <a:prstGeom prst="rect">
            <a:avLst/>
          </a:prstGeom>
          <a:solidFill>
            <a:srgbClr val="E5EFE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87400" y="5715000"/>
            <a:ext cx="106172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关键边界：</a:t>
            </a:r>
            <a:r>
              <a:rPr lang="en-US" altLang="zh-CN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INT64_MIN / MAX    ·    </a:t>
            </a: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</a:t>
            </a:r>
            <a:r>
              <a:rPr lang="en-US" altLang="zh-CN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9999 / 10000    ·    </a:t>
            </a: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</a:t>
            </a:r>
            <a:r>
              <a:rPr lang="en-US" altLang="zh-CN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63 / 64 / 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用例组织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个测试文件，包含正常与异常用例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全部用例自动化；按功能拆分，便于定位失败与补充回归。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2184400"/>
            <a:ext cx="3479800" cy="2959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23749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正常行为</a:t>
            </a:r>
            <a:r>
              <a:rPr lang="en-US" altLang="zh-CN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29 </a:t>
            </a: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8200" y="27813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基本功能与组合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38200" y="33401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基础算术及冒烟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括号与一元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复杂表达式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11</a:t>
            </a:r>
          </a:p>
        </p:txBody>
      </p:sp>
      <p:sp>
        <p:nvSpPr>
          <p:cNvPr id="12" name="矩形 11"/>
          <p:cNvSpPr/>
          <p:nvPr/>
        </p:nvSpPr>
        <p:spPr>
          <a:xfrm>
            <a:off x="4292600" y="2184400"/>
            <a:ext cx="3479800" cy="2959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521200" y="23749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边界与位运算</a:t>
            </a:r>
            <a:r>
              <a:rPr lang="en-US" altLang="zh-CN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26 </a:t>
            </a: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21200" y="27813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 b="1" dirty="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数值与输入约束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21200" y="3340100"/>
            <a:ext cx="3022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位运算与移位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整数边界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输入长度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含合法边界与拒绝边界</a:t>
            </a:r>
          </a:p>
        </p:txBody>
      </p:sp>
      <p:sp>
        <p:nvSpPr>
          <p:cNvPr id="16" name="矩形 15"/>
          <p:cNvSpPr/>
          <p:nvPr/>
        </p:nvSpPr>
        <p:spPr>
          <a:xfrm>
            <a:off x="7975600" y="2184400"/>
            <a:ext cx="3606800" cy="2959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04200" y="2374900"/>
            <a:ext cx="3149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错误与异常</a:t>
            </a:r>
            <a:r>
              <a:rPr lang="en-US" altLang="zh-CN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39 </a:t>
            </a:r>
            <a:r>
              <a:rPr lang="zh-CN" altLang="en-US" sz="1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204200" y="2781300"/>
            <a:ext cx="3149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拒绝与溢出保护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204200" y="3340100"/>
            <a:ext cx="3149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非法输入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   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语法错误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除零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模零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整数溢出与下溢</a:t>
            </a:r>
            <a:r>
              <a:rPr lang="en-US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17</a:t>
            </a:r>
          </a:p>
          <a:p>
            <a:pPr>
              <a:spcAft>
                <a:spcPts val="500"/>
              </a:spcAft>
            </a:pPr>
            <a:r>
              <a:rPr lang="zh-CN" altLang="zh-CN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用异常断言验证拒绝行为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60400" y="5511800"/>
            <a:ext cx="1079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组织方式：</a:t>
            </a:r>
            <a:r>
              <a:rPr lang="en-US" altLang="zh-CN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TEST(</a:t>
            </a:r>
            <a:r>
              <a:rPr lang="zh-CN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测试套件</a:t>
            </a:r>
            <a:r>
              <a:rPr lang="en-US" altLang="zh-CN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用例名</a:t>
            </a:r>
            <a:r>
              <a:rPr lang="en-US" altLang="zh-CN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 +  EXPECT_EQ / EXPECT_THROW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自动化设计与实施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GoogleTest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断言，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CMake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构建，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CTest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统一执行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+ MSYS2 UCRT64 + C++17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；测试无需外部服务，未引入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Mock / Stub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2171700"/>
            <a:ext cx="3556000" cy="13335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7400" y="23495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4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84300" y="23622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源码与用例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87400" y="2946400"/>
            <a:ext cx="3238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2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calculator.hpp + tests/*.cpp</a:t>
            </a:r>
          </a:p>
        </p:txBody>
      </p:sp>
      <p:sp>
        <p:nvSpPr>
          <p:cNvPr id="12" name="矩形 11"/>
          <p:cNvSpPr/>
          <p:nvPr/>
        </p:nvSpPr>
        <p:spPr>
          <a:xfrm>
            <a:off x="4318000" y="2171700"/>
            <a:ext cx="3556000" cy="13335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495800" y="23495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4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092700" y="23622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构建测试程序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495800" y="2946400"/>
            <a:ext cx="3238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2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GTest::gtest_main</a:t>
            </a:r>
          </a:p>
        </p:txBody>
      </p:sp>
      <p:sp>
        <p:nvSpPr>
          <p:cNvPr id="16" name="矩形 15"/>
          <p:cNvSpPr/>
          <p:nvPr/>
        </p:nvSpPr>
        <p:spPr>
          <a:xfrm>
            <a:off x="8026400" y="2171700"/>
            <a:ext cx="3556000" cy="13335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04200" y="23495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4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801100" y="23622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发现并运行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204200" y="2946400"/>
            <a:ext cx="3238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2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gtest_discover_tests()</a:t>
            </a:r>
          </a:p>
        </p:txBody>
      </p:sp>
      <p:sp>
        <p:nvSpPr>
          <p:cNvPr id="20" name="矩形 19"/>
          <p:cNvSpPr/>
          <p:nvPr/>
        </p:nvSpPr>
        <p:spPr>
          <a:xfrm>
            <a:off x="609600" y="3835400"/>
            <a:ext cx="10972800" cy="1574800"/>
          </a:xfrm>
          <a:prstGeom prst="rect">
            <a:avLst/>
          </a:prstGeom>
          <a:solidFill>
            <a:srgbClr val="1120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63600" y="4038600"/>
            <a:ext cx="10439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FFFFFF"/>
                </a:solidFill>
                <a:latin typeface="Consolas" panose="020B0609020204030204" charset="0"/>
                <a:cs typeface="Consolas" panose="020B0609020204030204" charset="0"/>
              </a:rPr>
              <a:t>cmake -S . -B build -G "MinGW Makefiles"</a:t>
            </a:r>
          </a:p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FFFFFF"/>
                </a:solidFill>
                <a:latin typeface="Consolas" panose="020B0609020204030204" charset="0"/>
                <a:cs typeface="Consolas" panose="020B0609020204030204" charset="0"/>
              </a:rPr>
              <a:t>cmake --build build</a:t>
            </a:r>
          </a:p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FFFFFF"/>
                </a:solidFill>
                <a:latin typeface="Consolas" panose="020B0609020204030204" charset="0"/>
                <a:cs typeface="Consolas" panose="020B0609020204030204" charset="0"/>
              </a:rPr>
              <a:t>ctest --test-dir build --output-on-failure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60400" y="5651500"/>
            <a:ext cx="1082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4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版本核对：默认构建引用原版；本次额外隔离编译修复版，复用同一组用例。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执行结果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个失败用例，归并为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类缺陷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94 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个用例独立复跑结果，与附录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、附录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记录一致。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2108200"/>
            <a:ext cx="5283200" cy="137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6000" y="2108200"/>
            <a:ext cx="5486400" cy="1371600"/>
          </a:xfrm>
          <a:prstGeom prst="rect">
            <a:avLst/>
          </a:prstGeom>
          <a:solidFill>
            <a:srgbClr val="E5EFE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63600" y="22987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原版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50900" y="26797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3600" b="1">
                <a:solidFill>
                  <a:srgbClr val="11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 / 94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32200" y="2857500"/>
            <a:ext cx="1943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3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95.74%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50000" y="2298700"/>
            <a:ext cx="2286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6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修复版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37300" y="26797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3600" b="1">
                <a:solidFill>
                  <a:srgbClr val="11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 / 94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232900" y="28575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3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</a:p>
        </p:txBody>
      </p:sp>
      <p:sp>
        <p:nvSpPr>
          <p:cNvPr id="16" name="矩形 15"/>
          <p:cNvSpPr/>
          <p:nvPr/>
        </p:nvSpPr>
        <p:spPr>
          <a:xfrm>
            <a:off x="609600" y="3771900"/>
            <a:ext cx="10972800" cy="58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00100" y="3898900"/>
            <a:ext cx="73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D01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752600" y="3898900"/>
            <a:ext cx="574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非法移位量未校验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747000" y="3911600"/>
            <a:ext cx="2438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0604500" y="3898900"/>
            <a:ext cx="63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</a:p>
        </p:txBody>
      </p:sp>
      <p:sp>
        <p:nvSpPr>
          <p:cNvPr id="21" name="矩形 20"/>
          <p:cNvSpPr/>
          <p:nvPr/>
        </p:nvSpPr>
        <p:spPr>
          <a:xfrm>
            <a:off x="609600" y="4445000"/>
            <a:ext cx="10972800" cy="58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00100" y="4572000"/>
            <a:ext cx="73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D02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752600" y="4572000"/>
            <a:ext cx="574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最小负整数字面量解析失败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747000" y="4584700"/>
            <a:ext cx="2438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604500" y="4572000"/>
            <a:ext cx="63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中</a:t>
            </a:r>
          </a:p>
        </p:txBody>
      </p:sp>
      <p:sp>
        <p:nvSpPr>
          <p:cNvPr id="26" name="矩形 25"/>
          <p:cNvSpPr/>
          <p:nvPr/>
        </p:nvSpPr>
        <p:spPr>
          <a:xfrm>
            <a:off x="609600" y="5118100"/>
            <a:ext cx="10972800" cy="584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00100" y="5245100"/>
            <a:ext cx="73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7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D03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752600" y="5245100"/>
            <a:ext cx="574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零减最小整数时遗漏溢出检查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747000" y="5257800"/>
            <a:ext cx="2438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5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个失败用例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0604500" y="5245100"/>
            <a:ext cx="63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35000" y="58674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1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D01 </a:t>
            </a:r>
            <a:r>
              <a:rPr lang="zh-CN" altLang="en-US" sz="11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的位宽用例同时检查左移与右移；因此失败断言数不等于失败用例数。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</a:t>
            </a:r>
            <a:r>
              <a:rPr lang="en-US" altLang="zh-CN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BUG · D03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&gt; 0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漏掉</a:t>
            </a:r>
            <a:r>
              <a:rPr lang="en-US" altLang="zh-CN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= 0 的边界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触发式：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0 - (-9223372036854775807 - 1)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2146300"/>
            <a:ext cx="5270500" cy="2324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83300" y="2146300"/>
            <a:ext cx="5499100" cy="23241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50900" y="2324100"/>
            <a:ext cx="469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94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修复前：</a:t>
            </a:r>
            <a:r>
              <a:rPr lang="en-US" altLang="zh-CN" sz="2200" b="1">
                <a:solidFill>
                  <a:srgbClr val="B942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&gt; 0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50900" y="2908300"/>
            <a:ext cx="463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9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if (x &gt; 0 &amp;&amp; y &lt; 0)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0900" y="3568700"/>
            <a:ext cx="469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= 0 </a:t>
            </a: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被排除在检查之外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越界减法未抛出异常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37300" y="23241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修复后：</a:t>
            </a:r>
            <a:r>
              <a:rPr lang="en-US" altLang="zh-CN" sz="22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&gt;= 0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37300" y="2908300"/>
            <a:ext cx="4889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9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if (x &gt;= 0 &amp;&amp; y &lt; 0)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337300" y="35687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覆盖零减负数的路径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目标用例抛出</a:t>
            </a:r>
            <a:r>
              <a:rPr lang="en-US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calculator::error</a:t>
            </a:r>
          </a:p>
        </p:txBody>
      </p:sp>
      <p:sp>
        <p:nvSpPr>
          <p:cNvPr id="16" name="矩形 15"/>
          <p:cNvSpPr/>
          <p:nvPr/>
        </p:nvSpPr>
        <p:spPr>
          <a:xfrm>
            <a:off x="609600" y="4838700"/>
            <a:ext cx="10972800" cy="1079500"/>
          </a:xfrm>
          <a:prstGeom prst="rect">
            <a:avLst/>
          </a:prstGeom>
          <a:solidFill>
            <a:srgbClr val="1120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63600" y="5016500"/>
            <a:ext cx="10477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 b="1">
                <a:solidFill>
                  <a:srgbClr val="4EE0B4"/>
                </a:solidFill>
                <a:latin typeface="微软雅黑" panose="020B0503020204020204" charset="-122"/>
                <a:ea typeface="微软雅黑" panose="020B0503020204020204" charset="-122"/>
              </a:rPr>
              <a:t>为什么一定越界？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63600" y="5461000"/>
            <a:ext cx="10477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0 − INT64_MIN = 2^63  =  INT64_MAX + 1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测试问题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EXPECT_THROW </a:t>
            </a:r>
            <a:r>
              <a:rPr lang="zh-CN" altLang="en-US" sz="3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通过，也可能根本没测到目标运算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5000" y="1485900"/>
            <a:ext cx="1092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最小整数除以</a:t>
            </a:r>
            <a:r>
              <a:rPr lang="en-US" altLang="zh-CN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-1”</a:t>
            </a:r>
            <a:r>
              <a:rPr lang="zh-CN" altLang="en-US" sz="13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的溢出测试为例：先确认异常发生在哪一步。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2171700"/>
            <a:ext cx="5308600" cy="264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21400" y="2171700"/>
            <a:ext cx="5461000" cy="264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63600" y="2400300"/>
            <a:ext cx="47752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E56E31"/>
                </a:solidFill>
                <a:latin typeface="微软雅黑" panose="020B0503020204020204" charset="-122"/>
                <a:ea typeface="微软雅黑" panose="020B0503020204020204" charset="-122"/>
              </a:rPr>
              <a:t>容易误判的写法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63600" y="3035300"/>
            <a:ext cx="4737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4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eval("-9223372036854775808 / -1")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3600" y="3695700"/>
            <a:ext cx="4749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原版先在字面量解析阶段抛出异常。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即便断言通过，也未验证除法保护。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375400" y="24003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</a:rPr>
              <a:t>现有用例的处理方式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75400" y="29845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4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eval(</a:t>
            </a:r>
          </a:p>
          <a:p>
            <a:pPr>
              <a:spcAft>
                <a:spcPts val="500"/>
              </a:spcAft>
            </a:pPr>
            <a:r>
              <a:rPr lang="en-US" altLang="en-US" sz="1400" b="1">
                <a:solidFill>
                  <a:srgbClr val="112033"/>
                </a:solidFill>
                <a:latin typeface="Consolas" panose="020B0609020204030204" charset="0"/>
                <a:cs typeface="Consolas" panose="020B0609020204030204" charset="0"/>
              </a:rPr>
              <a:t>  "(-9223372036854775807 - 1) / -1")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375400" y="3898900"/>
            <a:ext cx="4927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先通过合法运算构造最小值，</a:t>
            </a:r>
            <a:endParaRPr lang="en-US" altLang="zh-CN" sz="1700">
              <a:solidFill>
                <a:srgbClr val="5E6E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lang="zh-CN" altLang="zh-CN" sz="1700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再进入真正的除法溢出检查。</a:t>
            </a:r>
          </a:p>
        </p:txBody>
      </p:sp>
      <p:sp>
        <p:nvSpPr>
          <p:cNvPr id="16" name="矩形 15"/>
          <p:cNvSpPr/>
          <p:nvPr/>
        </p:nvSpPr>
        <p:spPr>
          <a:xfrm>
            <a:off x="609600" y="5194300"/>
            <a:ext cx="10972800" cy="787400"/>
          </a:xfrm>
          <a:prstGeom prst="rect">
            <a:avLst/>
          </a:prstGeom>
          <a:solidFill>
            <a:srgbClr val="E5EFE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38200" y="5372100"/>
            <a:ext cx="10566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经验：检查</a:t>
            </a:r>
            <a:r>
              <a:rPr lang="en-US" altLang="zh-CN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为何通过</a:t>
            </a:r>
            <a:r>
              <a:rPr lang="en-US" altLang="zh-CN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1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，用目标分支和前置条件约束断言。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17500"/>
            <a:ext cx="1041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</a:t>
            </a:r>
            <a:r>
              <a:rPr lang="zh-CN" altLang="en-US" sz="1000" b="1">
                <a:solidFill>
                  <a:srgbClr val="008B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质量评估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900"/>
            <a:ext cx="10985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000" b="1" dirty="0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覆盖率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6337300"/>
            <a:ext cx="10972800" cy="127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50600" y="6438900"/>
            <a:ext cx="444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1300" b="1">
                <a:solidFill>
                  <a:srgbClr val="5E6E80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</a:p>
        </p:txBody>
      </p:sp>
      <p:sp>
        <p:nvSpPr>
          <p:cNvPr id="8" name="矩形 7"/>
          <p:cNvSpPr/>
          <p:nvPr/>
        </p:nvSpPr>
        <p:spPr>
          <a:xfrm>
            <a:off x="609600" y="2159000"/>
            <a:ext cx="52578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6000" y="2159000"/>
            <a:ext cx="54864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76300" y="2374900"/>
            <a:ext cx="454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行覆盖率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25500" y="2895600"/>
            <a:ext cx="462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4900" b="1">
                <a:solidFill>
                  <a:srgbClr val="008B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97.78%</a:t>
            </a:r>
          </a:p>
        </p:txBody>
      </p:sp>
      <p:sp>
        <p:nvSpPr>
          <p:cNvPr id="12" name="矩形 11"/>
          <p:cNvSpPr/>
          <p:nvPr/>
        </p:nvSpPr>
        <p:spPr>
          <a:xfrm>
            <a:off x="876300" y="4102100"/>
            <a:ext cx="4635500" cy="1524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76300" y="4102100"/>
            <a:ext cx="4531995" cy="152400"/>
          </a:xfrm>
          <a:prstGeom prst="rect">
            <a:avLst/>
          </a:prstGeom>
          <a:solidFill>
            <a:srgbClr val="008B7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62700" y="2374900"/>
            <a:ext cx="462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1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</a:rPr>
              <a:t>分支覆盖率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311900" y="2895600"/>
            <a:ext cx="4724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en-US" sz="4900" b="1">
                <a:solidFill>
                  <a:srgbClr val="E56E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71.31%</a:t>
            </a:r>
          </a:p>
        </p:txBody>
      </p:sp>
      <p:sp>
        <p:nvSpPr>
          <p:cNvPr id="16" name="矩形 15"/>
          <p:cNvSpPr/>
          <p:nvPr/>
        </p:nvSpPr>
        <p:spPr>
          <a:xfrm>
            <a:off x="6362700" y="4102100"/>
            <a:ext cx="4851400" cy="152400"/>
          </a:xfrm>
          <a:prstGeom prst="rect">
            <a:avLst/>
          </a:prstGeom>
          <a:solidFill>
            <a:srgbClr val="DDE3E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362700" y="4102100"/>
            <a:ext cx="3459480" cy="152400"/>
          </a:xfrm>
          <a:prstGeom prst="rect">
            <a:avLst/>
          </a:prstGeom>
          <a:solidFill>
            <a:srgbClr val="E56E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35000" y="5041900"/>
            <a:ext cx="108204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已验证：已知缺陷的修复与现有</a:t>
            </a:r>
            <a:r>
              <a:rPr lang="en-US" altLang="zh-CN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94 </a:t>
            </a:r>
            <a:r>
              <a:rPr lang="zh-CN" altLang="en-US" sz="2000" b="1">
                <a:solidFill>
                  <a:srgbClr val="11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个用例的回归。</a:t>
            </a:r>
          </a:p>
        </p:txBody>
      </p:sp>
      <p:sp>
        <p:nvSpPr>
          <p:cNvPr id="19" name="未覆盖分支说明"/>
          <p:cNvSpPr txBox="1"/>
          <p:nvPr/>
        </p:nvSpPr>
        <p:spPr>
          <a:xfrm>
            <a:off x="635000" y="5499100"/>
            <a:ext cx="108204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600"/>
              </a:lnSpc>
            </a:pPr>
            <a:r>
              <a:rPr lang="zh-CN" sz="1300" dirty="0">
                <a:solidFill>
                  <a:srgbClr val="5E6E80"/>
                </a:solidFill>
                <a:latin typeface="微软雅黑"/>
                <a:ea typeface="微软雅黑"/>
              </a:rPr>
              <a:t>原版未覆盖的 101 个分支中，75 个为工具标记的异常路径，多见于报错信息构造等操作。</a:t>
            </a:r>
          </a:p>
          <a:p>
            <a:pPr>
              <a:lnSpc>
                <a:spcPts val="1600"/>
              </a:lnSpc>
            </a:pPr>
            <a:r>
              <a:rPr lang="zh-CN" sz="1300" dirty="0">
                <a:solidFill>
                  <a:srgbClr val="5E6E80"/>
                </a:solidFill>
                <a:latin typeface="微软雅黑"/>
                <a:ea typeface="微软雅黑"/>
              </a:rPr>
              <a:t>这部分对本次核心计算功能验证的影响较小；另有默认 int64_t 类型下不会进入的分支。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">
            <a:extLst>
              <a:ext uri="{FF2B5EF4-FFF2-40B4-BE49-F238E27FC236}">
                <a16:creationId xmlns:a16="http://schemas.microsoft.com/office/drawing/2014/main" id="{2578B9E4-7351-4340-9BAC-4D885C36E6D1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">
            <a:extLst>
              <a:ext uri="{FF2B5EF4-FFF2-40B4-BE49-F238E27FC236}">
                <a16:creationId xmlns:a16="http://schemas.microsoft.com/office/drawing/2014/main" id="{89F279D7-716D-41DC-91D1-CF67A641CB66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tantia" panose="02030602050306030303" pitchFamily="18" charset="0"/>
            </a:endParaRPr>
          </a:p>
        </p:txBody>
      </p:sp>
      <p:sp>
        <p:nvSpPr>
          <p:cNvPr id="102" name="矩形 11">
            <a:extLst>
              <a:ext uri="{FF2B5EF4-FFF2-40B4-BE49-F238E27FC236}">
                <a16:creationId xmlns:a16="http://schemas.microsoft.com/office/drawing/2014/main" id="{995050F5-8F30-4A70-A69E-F6B787105A13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3" name="图片 14">
            <a:extLst>
              <a:ext uri="{FF2B5EF4-FFF2-40B4-BE49-F238E27FC236}">
                <a16:creationId xmlns:a16="http://schemas.microsoft.com/office/drawing/2014/main" id="{B5107ECD-ADC8-4E2D-BAD5-C8BB26DF3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34" y="232034"/>
            <a:ext cx="2438400" cy="52734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35000" y="1193800"/>
            <a:ext cx="10922000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altLang="en-US"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</a:t>
            </a:r>
            <a:r>
              <a:rPr lang="zh-CN" altLang="en-US"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5000" y="1676400"/>
            <a:ext cx="109220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zh-CN" altLang="en-US" sz="3200" b="1" dirty="0">
                <a:solidFill>
                  <a:srgbClr val="4747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测试成果</a:t>
            </a:r>
            <a:endParaRPr lang="en-US" altLang="zh-CN" sz="3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000" y="2413000"/>
            <a:ext cx="1092200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zh-CN" altLang="en-US" sz="16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按输入类型设计用例，用边界测试发现问题，修复后运行相同用例。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795000" y="6553200"/>
            <a:ext cx="889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500"/>
              </a:spcAft>
            </a:pPr>
            <a:r>
              <a:rPr lang="en-US" altLang="en-US"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70000" y="3238500"/>
            <a:ext cx="17145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Aft>
                <a:spcPts val="500"/>
              </a:spcAft>
            </a:pPr>
            <a:r>
              <a:rPr lang="en-US" altLang="en-US" sz="2300" b="1">
                <a:solidFill>
                  <a:srgbClr val="4747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02000" y="3238500"/>
            <a:ext cx="74930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zh-CN" altLang="en-US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自动化用例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270000" y="3860800"/>
            <a:ext cx="17145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Aft>
                <a:spcPts val="500"/>
              </a:spcAft>
            </a:pPr>
            <a:r>
              <a:rPr lang="en-US" altLang="en-US" sz="2300" b="1">
                <a:solidFill>
                  <a:srgbClr val="4747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302000" y="3860800"/>
            <a:ext cx="74930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zh-CN" altLang="en-US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已定位缺陷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270000" y="4483100"/>
            <a:ext cx="17145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Aft>
                <a:spcPts val="500"/>
              </a:spcAft>
            </a:pPr>
            <a:r>
              <a:rPr lang="en-US" altLang="en-US" sz="2300" b="1">
                <a:solidFill>
                  <a:srgbClr val="4747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302000" y="4483100"/>
            <a:ext cx="7493000" cy="40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zh-CN" altLang="en-US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修复版回归通过率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35000" y="5384800"/>
            <a:ext cx="1092200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zh-CN" altLang="en-US" sz="21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关键收获：覆盖零与极值，关注异常来源。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2899</Words>
  <Application>Microsoft Office PowerPoint</Application>
  <PresentationFormat>宽屏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微软雅黑</vt:lpstr>
      <vt:lpstr>Arial</vt:lpstr>
      <vt:lpstr>Consolas</vt:lpstr>
      <vt:lpstr>Constantia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49</dc:creator>
  <cp:lastModifiedBy>a17318</cp:lastModifiedBy>
  <cp:revision>160</cp:revision>
  <dcterms:created xsi:type="dcterms:W3CDTF">2019-06-19T02:08:00Z</dcterms:created>
  <dcterms:modified xsi:type="dcterms:W3CDTF">2026-09-15T03:56:17Z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6D75012A0120433384F3FCBD79C5DC2A_11</vt:lpwstr>
  </property>
</Properties>
</file>